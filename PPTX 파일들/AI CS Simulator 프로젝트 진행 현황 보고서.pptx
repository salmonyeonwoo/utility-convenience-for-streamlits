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06427D-642A-4253-8736-B5F34F9D779C}">
  <a:tblStyle styleId="{1206427D-642A-4253-8736-B5F34F9D77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66fe07b6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866fe07b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66fe07b68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66fe07b6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66fe07b68_3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66fe07b68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66fe07b68_3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866fe07b68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66fe07b68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866fe07b6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8.png"/><Relationship Id="rId7" Type="http://schemas.openxmlformats.org/officeDocument/2006/relationships/image" Target="../media/image15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983432"/>
            <a:ext cx="11601450" cy="16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AI 고객 응대 시뮬레이터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프로젝트 진행 현황 보고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66914"/>
            <a:ext cx="11049000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K-Digital Training: Intelligent CS Training Platform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619750" y="5290839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5900439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2024.12.18 | Salmonyeonwoo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45224"/>
            <a:ext cx="5334000" cy="4098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775" y="5018664"/>
            <a:ext cx="4743450" cy="89892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809625" y="919311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데이터셋 확보 및 시뮬레이션 환경 구축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866775" y="2100411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데이터 수집 및 가공 현황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805136"/>
            <a:ext cx="5334000" cy="409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152525" y="2692866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327500" y="3052586"/>
            <a:ext cx="436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>
                <a:solidFill>
                  <a:srgbClr val="CBD5E1"/>
                </a:solidFill>
              </a:rPr>
              <a:t> </a:t>
            </a: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Klook, Disney 등 글로벌 CS 오픈 로그 데이터 분석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52525" y="3367057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423200" y="3673677"/>
            <a:ext cx="436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RAG 기능을 위한 텍스트 청킹 및 임베딩 최적화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152525" y="3751778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175875" y="4346186"/>
            <a:ext cx="436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고객 페르소나별 텍스트 시뮬레이션 로그 생성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1152525" y="4136499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175775" y="4682419"/>
            <a:ext cx="4362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실제 상담 환경과 95% 일치하는 응대 시나리오 구축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470900" y="5209164"/>
            <a:ext cx="43149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"단순 질답을 넘어, 고객의 감정 변화를 추적할 수 있는 양방향 데이터셋 확보 완료"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7488" y="2590774"/>
            <a:ext cx="8382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47775" y="3355627"/>
            <a:ext cx="89535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33488" y="3938461"/>
            <a:ext cx="923925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39974"/>
            <a:ext cx="5334000" cy="2497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39974"/>
            <a:ext cx="5334000" cy="249718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09625" y="919311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모델 선정 및 하이브리드 운영 전략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0" name="Google Shape;120;p15"/>
          <p:cNvGraphicFramePr/>
          <p:nvPr/>
        </p:nvGraphicFramePr>
        <p:xfrm>
          <a:off x="571500" y="46276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{1206427D-642A-4253-8736-B5F34F9D779C}</a:tableStyleId>
              </a:tblPr>
              <a:tblGrid>
                <a:gridCol w="2468025"/>
                <a:gridCol w="3628425"/>
                <a:gridCol w="4952550"/>
              </a:tblGrid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핵심 기능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적용 모델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8BDF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비고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BD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음성 인식 (STT)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OpenAI Whisper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Riva 통합 및 실시간 CC 자막 구현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대화형 RAG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LangChain + Vector DB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1F5F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Cursor AI를 통한 로직 반복 리팩토링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15"/>
          <p:cNvSpPr/>
          <p:nvPr/>
        </p:nvSpPr>
        <p:spPr>
          <a:xfrm>
            <a:off x="571500" y="5132486"/>
            <a:ext cx="2468016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039516" y="5132486"/>
            <a:ext cx="3628429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667946" y="5132486"/>
            <a:ext cx="4952553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866775" y="2263824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GPT-4o (Main Engine)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66775" y="2854374"/>
            <a:ext cx="47434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고객 문의 분석 및 전문 응대 초안 생성에 최적화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581775" y="2263824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Gemini 1.5 Pro (Fallback)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581775" y="2854374"/>
            <a:ext cx="47434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NVIDIA 결제 지원 만료 및 토큰 제한 대비 운영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642074"/>
            <a:ext cx="24680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3039516" y="5642074"/>
            <a:ext cx="362842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6667946" y="5642074"/>
            <a:ext cx="49525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71500" y="6137374"/>
            <a:ext cx="246801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3039516" y="6137374"/>
            <a:ext cx="362842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6667946" y="6137374"/>
            <a:ext cx="495255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1152525" y="3307675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247775" y="3305770"/>
            <a:ext cx="43624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정보 요청 및 솔루션 제공 로직 전담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152525" y="3692396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247775" y="3690491"/>
            <a:ext cx="43624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Secrets Management를 통한 보안 강화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867525" y="3307675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962775" y="3305770"/>
            <a:ext cx="43624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Google AI Studio 연동을 통한 가용성 확보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867525" y="3692396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6962775" y="3690491"/>
            <a:ext cx="436245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대규모 문맥 처리 및 다국어 번역 지원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05136"/>
            <a:ext cx="5334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05136"/>
            <a:ext cx="53340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948136"/>
            <a:ext cx="47434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3510111"/>
            <a:ext cx="47434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4072086"/>
            <a:ext cx="474345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809625" y="919311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모델 훈련 진행 상황 및 성능 지표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866775" y="2100411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성능 요약 (Training Result)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866775" y="4376886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* Confusion Matrix 분석 결과 오응답률 5% 미만 달성</a:t>
            </a:r>
            <a:endParaRPr/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814661"/>
            <a:ext cx="5314950" cy="317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866775" y="2690961"/>
            <a:ext cx="4743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응답 정확도 (Accuracy)92%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66775" y="3252936"/>
            <a:ext cx="4743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감정 분석 일치율 (mAP)88%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66775" y="3814911"/>
            <a:ext cx="47434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다국어 번역 적절성95%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866775" y="2948136"/>
            <a:ext cx="4363938" cy="1143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866775" y="3510111"/>
            <a:ext cx="4174182" cy="1143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866775" y="4072086"/>
            <a:ext cx="4506217" cy="114300"/>
          </a:xfrm>
          <a:prstGeom prst="roundRect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6" name="Google Shape;16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1" name="Google Shape;17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05136"/>
            <a:ext cx="5334000" cy="309517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809625" y="919311"/>
            <a:ext cx="11351418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전화 및 음성 처리 모듈 (Riva &amp; TTS)</a:t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71500" y="919311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866775" y="2100411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모듈화 및 실시간 전사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66775" y="3930848"/>
            <a:ext cx="474345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11월 4주차 프로젝트 돌입 후, 음성 기반 상담원의 응대 역량 측정 UI 완성.</a:t>
            </a:r>
            <a:endParaRPr/>
          </a:p>
        </p:txBody>
      </p:sp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805136"/>
            <a:ext cx="5334000" cy="309517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1152525" y="2692866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2884550" y="2640300"/>
            <a:ext cx="2338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비동기 통화 처리 로직 전문화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152525" y="3077587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2964275" y="3071062"/>
            <a:ext cx="2338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오디오 스트림 버퍼링 최적화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1152525" y="3462307"/>
            <a:ext cx="95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3050000" y="3500950"/>
            <a:ext cx="2424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통화 중 실시간 자막 노출 기능</a:t>
            </a:r>
            <a:endParaRPr/>
          </a:p>
        </p:txBody>
      </p:sp>
      <p:pic>
        <p:nvPicPr>
          <p:cNvPr descr="image.png" id="188" name="Google Shape;1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3225" y="2602336"/>
            <a:ext cx="12858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7500" y="3031370"/>
            <a:ext cx="14573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80363" y="3481102"/>
            <a:ext cx="13716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63900"/>
            <a:ext cx="5524500" cy="191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809625" y="1473249"/>
            <a:ext cx="4950618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전략적 피벗: 가상 휴먼 API 이슈 대응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71500" y="1473249"/>
            <a:ext cx="57150" cy="100965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866775" y="3340150"/>
            <a:ext cx="4749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F43F5E"/>
                </a:solidFill>
                <a:latin typeface="Arial"/>
                <a:ea typeface="Arial"/>
                <a:cs typeface="Arial"/>
                <a:sym typeface="Arial"/>
              </a:rPr>
              <a:t>[이슈]</a:t>
            </a: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가상 휴먼 API 발급 지원 불가 확인 (예산 및 정책 이슈)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66775" y="3810600"/>
            <a:ext cx="49506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[해결]</a:t>
            </a:r>
            <a:r>
              <a:rPr b="0" i="0" lang="en-US" sz="1425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에이전트 실시간 카메라 도입 전략 (Webcam Integration)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571500" y="5218211"/>
            <a:ext cx="4953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가상 휴먼의 한계를 실제 상담원의 카메라 기능을 활성화하여 AI 음성과 결합한 </a:t>
            </a:r>
            <a:r>
              <a:rPr b="1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하이브리드 상담 인터페이스</a:t>
            </a:r>
            <a:r>
              <a:rPr b="0" i="0" lang="en-US" sz="1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로 극복 완료.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06" name="Google Shape;2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11" name="Google Shape;2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216" name="Google Shape;2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206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295275" y="2319337"/>
            <a:ext cx="1160145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/>
          </a:p>
        </p:txBody>
      </p:sp>
      <p:sp>
        <p:nvSpPr>
          <p:cNvPr id="224" name="Google Shape;224;p24"/>
          <p:cNvSpPr txBox="1"/>
          <p:nvPr/>
        </p:nvSpPr>
        <p:spPr>
          <a:xfrm>
            <a:off x="571500" y="3628727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Q&amp;A 및 시뮬레이션 시연 준비 완료</a:t>
            </a:r>
            <a:endParaRPr/>
          </a:p>
        </p:txBody>
      </p:sp>
      <p:sp>
        <p:nvSpPr>
          <p:cNvPr id="225" name="Google Shape;225;p24"/>
          <p:cNvSpPr txBox="1"/>
          <p:nvPr/>
        </p:nvSpPr>
        <p:spPr>
          <a:xfrm>
            <a:off x="571500" y="4609802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AI 고객 응대 시뮬레이터 개발 프로젝트 | Salmonyeonwoo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